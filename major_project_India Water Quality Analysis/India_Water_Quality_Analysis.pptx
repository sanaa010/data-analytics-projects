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0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85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3" name="Shape 1"/>
          <p:cNvSpPr/>
          <p:nvPr/>
        </p:nvSpPr>
        <p:spPr>
          <a:xfrm>
            <a:off x="10100441" y="274320"/>
            <a:ext cx="1695319" cy="1554480"/>
          </a:xfrm>
          <a:prstGeom prst="ellipse">
            <a:avLst/>
          </a:prstGeom>
          <a:solidFill>
            <a:srgbClr val="B8924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1920240"/>
            <a:ext cx="731520" cy="770408"/>
          </a:xfrm>
          <a:prstGeom prst="ellipse">
            <a:avLst/>
          </a:prstGeom>
          <a:solidFill>
            <a:srgbClr val="F1EAD6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39" y="5120639"/>
            <a:ext cx="1322201" cy="1427305"/>
          </a:xfrm>
          <a:prstGeom prst="ellipse">
            <a:avLst/>
          </a:prstGeom>
          <a:solidFill>
            <a:srgbClr val="F1EAD6">
              <a:alpha val="12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7772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89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ANALYTICS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Water Quality Analysis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2960" y="3520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Assessment of Chemical, Biological &amp; Regional Water Safety Across 1,000 Sampled Sites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11135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Samples  |  17 States  |  7 Water Sources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A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2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94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definition of the 1,000-sample water quality dataset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928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013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04088" y="24688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Samples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127248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332841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236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04088" y="39044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States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4562856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4764024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67258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704088" y="534009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Source Types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561168"/>
              </p:ext>
            </p:extLst>
          </p:nvPr>
        </p:nvGraphicFramePr>
        <p:xfrm>
          <a:off x="3154680" y="1691640"/>
          <a:ext cx="8549640" cy="4425696"/>
        </p:xfrm>
        <a:graphic>
          <a:graphicData uri="http://schemas.openxmlformats.org/drawingml/2006/table">
            <a:tbl>
              <a:tblPr/>
              <a:tblGrid>
                <a:gridCol w="2834640"/>
                <a:gridCol w="5715000"/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24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assigned to each water sample record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state where the sample was collected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Water_Source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 type — River, Lake, Well, Groundwater, Reservoir, Pond, Tap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 / Temperature_C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physical and acid-alkaline stability readings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Turbidity_NTU / DO_mg/L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clarity and dissolved oxygen available for aquatic life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BOD_mg/L / COD_mg/L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Biological and chemical oxygen demand — organic pollution load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/ Nitrate / Fluoride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metal and chemical contamination concentrations (mg/L)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Calcium / Magnesium / Hardness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Mineral concentration and total water hardness profile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Total_Coliform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Bacterial indicator of biological / sewage contamination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F22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WQI_Score / WQI_Class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Water Quality Index and its Excellent–Poor classification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Water Quality Analysis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A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24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1945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transformation pipeline behind the analysis-ready dataset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581" y="1319310"/>
            <a:ext cx="6728197" cy="5430801"/>
          </a:xfrm>
          <a:prstGeom prst="roundRect">
            <a:avLst>
              <a:gd name="adj" fmla="val 167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images/powerqu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62" y="1422103"/>
            <a:ext cx="6595695" cy="5070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172200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 — water_quality_index_data source transformation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30437" y="1754913"/>
            <a:ext cx="48920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95160" y="2002536"/>
            <a:ext cx="457200" cy="457200"/>
          </a:xfrm>
          <a:prstGeom prst="ellipse">
            <a:avLst/>
          </a:prstGeom>
          <a:solidFill>
            <a:srgbClr val="0F224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21122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5240" y="1783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635240" y="207568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headers, state names, and water-source labels normalized to consistent text casing and category values across all 1,000 rows.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930437" y="2914729"/>
            <a:ext cx="48920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95160" y="3209544"/>
            <a:ext cx="457200" cy="457200"/>
          </a:xfrm>
          <a:prstGeom prst="ellipse">
            <a:avLst/>
          </a:prstGeom>
          <a:solidFill>
            <a:srgbClr val="0F224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31927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35240" y="29900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Handling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635240" y="3282696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chemical readings (pH, Lead, Fluoride, etc.) imputed using state/source-level medians; incomplete records with critical gaps removed.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930437" y="4110070"/>
            <a:ext cx="48920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95160" y="4416552"/>
            <a:ext cx="457200" cy="457200"/>
          </a:xfrm>
          <a:prstGeom prst="ellipse">
            <a:avLst/>
          </a:prstGeom>
          <a:solidFill>
            <a:srgbClr val="0F224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452628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5240" y="41970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Removal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635240" y="448970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outside physically plausible ranges (e.g. negative concentrations, extreme pH) flagged via IQR bounds and corrected or excluded.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930437" y="5335682"/>
            <a:ext cx="489204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995160" y="5623560"/>
            <a:ext cx="457200" cy="457200"/>
          </a:xfrm>
          <a:prstGeom prst="ellipse">
            <a:avLst/>
          </a:prstGeom>
          <a:solidFill>
            <a:srgbClr val="0F224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888" y="5733288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35240" y="540410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WQI Calculation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635240" y="569671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Water Quality Index computed from 9 core parameters, then binned into Excellent / Good / Medium / Poor classes.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Water Quality Analysis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A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24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Heavy Metals &amp; Chemical Contamination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Detected — Lead, Nitrate, and Fluoride concentrations spike sharply in specific states, exceeding safe thresholds in isolated pockets.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11479" y="1165071"/>
            <a:ext cx="3489855" cy="527608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3716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3441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40080" y="1725904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 and Maharashtra post the highest average Lead levels, exceeding the state median by over 20%.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Nitrate readings reach 8.21K mg/L in outlier samples, far above WHO drinking-water limits.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Fluoride sits at 604.43 across flagged samples, concentrated in groundwater and well sources.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 of samples fall into the Poor biological-risk band, correlating with chemical spikes.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40080" y="3785616"/>
            <a:ext cx="3154680" cy="0"/>
          </a:xfrm>
          <a:prstGeom prst="line">
            <a:avLst/>
          </a:prstGeom>
          <a:noFill/>
          <a:ln w="12700">
            <a:solidFill>
              <a:srgbClr val="DCD3B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1304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378561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85800" y="4233672"/>
            <a:ext cx="32004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Lead and Fluoride remediation infrastructure in Haryana, Maharashtra, and West Bengal.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nitrate-selective filtration at groundwater and well extraction points in high-risk states.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quarterly heavy-metal monitoring checkpoints for the lowest-scoring 20% of sites.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chemical outliers with nearby industrial or agricultural runoff sources.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995928" y="1166648"/>
            <a:ext cx="8080458" cy="5234151"/>
          </a:xfrm>
          <a:prstGeom prst="roundRect">
            <a:avLst>
              <a:gd name="adj" fmla="val 91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images/dash_heavy_meta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7860" y="1170432"/>
            <a:ext cx="7963933" cy="519522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Water Quality Analysis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A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24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WQI Performance &amp; Health Profile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Detected — Overall WQI averages 86.76, but sample classification is uneven across states, with excellent-grade water under-represented.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3611880" cy="527608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3716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3441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85800" y="1792224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33.70% of the 1,000 samples tested achieve an Excellent WQI classification.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Madhya Pradesh, Punjab, and Rajasthan contribute the highest cumulative WQI scores by state.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Haryana and Bihar show a visibly higher share of Excellent-grade samples than other states.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 of samples fall in the Good band — solid, but with clear room to shift toward Excellent.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85800" y="3666744"/>
            <a:ext cx="3154680" cy="0"/>
          </a:xfrm>
          <a:prstGeom prst="line">
            <a:avLst/>
          </a:prstGeom>
          <a:noFill/>
          <a:ln w="12700">
            <a:solidFill>
              <a:srgbClr val="DCD3B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1304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378561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85800" y="4233672"/>
            <a:ext cx="32004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target to lift Excellent-grade share from 33.7% toward 45% within the next assessment cycle.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Haryana and Bihar's sourcing and treatment practices as replicable best-practice models.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improvement investment toward states clustering in the Medium and Poor WQI bands.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state-level WQI scorecards to drive accountability and track quarter-over-quarter change.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206240" y="1221407"/>
            <a:ext cx="7765043" cy="5225113"/>
          </a:xfrm>
          <a:prstGeom prst="roundRect">
            <a:avLst>
              <a:gd name="adj" fmla="val 93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images/dash_wqi_perform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1221407"/>
            <a:ext cx="7765043" cy="517939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Water Quality Analysis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A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24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Quality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Detected — Localized ecological safety margins vary meaningfully by state, with a clear downward gradient from top to bottom performers.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3611880" cy="527608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3716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3441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85800" y="1792224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Odisha leads the state-level performance index, followed closely by Bihar and Haryana.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WQI scores trend downward steadily from Odisha (~87.7) to WestBengal (~85.8) across all 17 states.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Punjab and WestBengal cluster at the lower end of the regional quality spectrum.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Micro-class composition shows Kerala and Delhi maintaining a strong share of high-grade samples.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85800" y="3666744"/>
            <a:ext cx="3154680" cy="0"/>
          </a:xfrm>
          <a:prstGeom prst="line">
            <a:avLst/>
          </a:prstGeom>
          <a:noFill/>
          <a:ln w="12700">
            <a:solidFill>
              <a:srgbClr val="DCD3B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1304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378561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85800" y="4233672"/>
            <a:ext cx="32004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WestBengal and Punjab as priority zones for infrastructure and treatment upgrades.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lagging states against Odisha and Bihar's source management and testing cadence.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regional variance tracking to catch quality shifts before they compound.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resource allocation with the state-level performance index, not just national averages.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160520" y="1156136"/>
            <a:ext cx="7915866" cy="5336104"/>
          </a:xfrm>
          <a:prstGeom prst="roundRect">
            <a:avLst>
              <a:gd name="adj" fmla="val 9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images/dash_regional_qua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1142157"/>
            <a:ext cx="7858404" cy="525864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Water Quality Analysis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A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24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Properties &amp; Mineral Concentration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Detected — Total hardness and mineral loads cluster in a wide mid-range band, with pH stability varying meaningfully by water source.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3611880" cy="527608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3716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3441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85800" y="1792224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hardness distribution peaks between 150-250 mg/L, indicating widespread moderately hard water.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and Magnesium concentrations show a broad, dispersed relationship with no single dominant source.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Chloride vs Sulfate readings reveal scattered high-chloride outliers suggesting saline runoff intercepts.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sits at a stable average pH of 7.28, closely matched by Tap and Reservoir sources.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85800" y="3666744"/>
            <a:ext cx="3154680" cy="0"/>
          </a:xfrm>
          <a:prstGeom prst="line">
            <a:avLst/>
          </a:prstGeom>
          <a:noFill/>
          <a:ln w="12700">
            <a:solidFill>
              <a:srgbClr val="DCD3B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1304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378561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85800" y="4233672"/>
            <a:ext cx="32004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targeted water-softening treatment in zones with hardness readings above 250 mg/L.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high-chloride outlier sites for saline intrusion or agricultural runoff contamination.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current pH stabilization practices for Groundwater and Tap sources as the benchmark.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Calcium/Magnesium monitoring frequency at sites showing high ion-balance variability.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160520" y="1170432"/>
            <a:ext cx="7863314" cy="5276088"/>
          </a:xfrm>
          <a:prstGeom prst="roundRect">
            <a:avLst>
              <a:gd name="adj" fmla="val 92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images/dash_miner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3582" y="1170432"/>
            <a:ext cx="7739386" cy="52303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Water Quality Analysis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A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F224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03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91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Health</a:t>
            </a:r>
            <a:endParaRPr lang="en-US" sz="1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Detected — Organic pollution and coliform levels vary sharply by water source, with dissolved oxygen trending downward over time.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3611880" cy="5276088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3716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34416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85800" y="1792224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and Lake sources carry the highest average Total Coliform counts of all seven source types.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 vs COD scatter shows most samples clustering low, with a distinct high-COD outlier group.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WQI score drops sharply from Excellent to Poor class, confirming biological load drives grade.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Oxygen has declined from ~6.92 to ~6.87 mg/L between the 2024 and 2025 measurement periods.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85800" y="3666744"/>
            <a:ext cx="3154680" cy="0"/>
          </a:xfrm>
          <a:prstGeom prst="line">
            <a:avLst/>
          </a:prstGeom>
          <a:noFill/>
          <a:ln w="12700">
            <a:solidFill>
              <a:srgbClr val="DCD3B8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1304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4128" y="3785616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F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85800" y="4233672"/>
            <a:ext cx="320040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coliform disinfection upgrades at River and Lake collection points.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high-COD outlier cluster for point-source industrial or sewage discharge.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biological treatment standards for sites trending toward the Medium/Poor WQI classes.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Dissolved Oxygen downward trend closely — intervene before it crosses safe thresholds.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160520" y="1182167"/>
            <a:ext cx="7842294" cy="5287213"/>
          </a:xfrm>
          <a:prstGeom prst="roundRect">
            <a:avLst>
              <a:gd name="adj" fmla="val 91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images/dash_biologic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1182167"/>
            <a:ext cx="7817438" cy="521863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Water Quality Analysis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18585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2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A18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takeaways from the chemical, biological, and regional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15084"/>
            <a:ext cx="502920" cy="502920"/>
          </a:xfrm>
          <a:prstGeom prst="ellipse">
            <a:avLst/>
          </a:prstGeom>
          <a:solidFill>
            <a:srgbClr val="B8924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50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hotspots are concentrated, not widespread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Nitrate, and Fluoride spikes cluster in a handful of states (Haryana, Maharashtra, West Bengal) — targeted intervention will outperform blanket measures.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39212"/>
            <a:ext cx="502920" cy="502920"/>
          </a:xfrm>
          <a:prstGeom prst="ellipse">
            <a:avLst/>
          </a:prstGeom>
          <a:solidFill>
            <a:srgbClr val="B8924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92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62432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 is good on average, excellent-grade water is scarce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9900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86.76 mean WQI masks the fact that only 33.7% of samples reach Excellent — most water is safe but not optimal.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63340"/>
            <a:ext cx="502920" cy="502920"/>
          </a:xfrm>
          <a:prstGeom prst="ellipse">
            <a:avLst/>
          </a:prstGeom>
          <a:solidFill>
            <a:srgbClr val="B8924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633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3648456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 follows a clear gradient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Odisha, Bihar, and Haryana consistently outperform; Punjab and West Bengal consistently lag across independent dashboards.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87468"/>
            <a:ext cx="502920" cy="502920"/>
          </a:xfrm>
          <a:prstGeom prst="ellipse">
            <a:avLst/>
          </a:prstGeom>
          <a:solidFill>
            <a:srgbClr val="B8924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874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672584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Mineral and pH profiles are broadly stable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50383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 and pH stay within manageable ranges across most sources, with isolated high-chloride and high-hardness pockets needing attention.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911596"/>
            <a:ext cx="502920" cy="502920"/>
          </a:xfrm>
          <a:prstGeom prst="ellipse">
            <a:avLst/>
          </a:prstGeom>
          <a:solidFill>
            <a:srgbClr val="B8924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9115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8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56967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 load is the leading indicator of WQI decline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60624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Coliform counts and the BOD/COD relationship track tightly with WQI class, and dissolved oxygen's downward trend is an early warning worth monitoring.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2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Water Quality Analysis  |  1,000 Samples  |  17 States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1255</Words>
  <Application>Microsoft Office PowerPoint</Application>
  <PresentationFormat>Widescreen</PresentationFormat>
  <Paragraphs>146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Water Quality Analysis</dc:title>
  <dc:subject>PptxGenJS Presentation</dc:subject>
  <dc:creator>Water Quality Analytics</dc:creator>
  <cp:lastModifiedBy>cgc</cp:lastModifiedBy>
  <cp:revision>4</cp:revision>
  <dcterms:created xsi:type="dcterms:W3CDTF">2026-07-03T09:23:19Z</dcterms:created>
  <dcterms:modified xsi:type="dcterms:W3CDTF">2026-07-03T09:54:34Z</dcterms:modified>
</cp:coreProperties>
</file>